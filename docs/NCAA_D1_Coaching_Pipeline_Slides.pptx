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WBB</c:v>
                </c:pt>
              </c:strCache>
            </c:strRef>
          </c:tx>
          <c:spPr>
            <a:solidFill>
              <a:srgbClr val="D4A574"/>
            </a:solidFill>
            <a:ln w="31750" cap="flat">
              <a:solidFill>
                <a:srgbClr val="D4A57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574"/>
              </a:solidFill>
              <a:ln w="9525" cap="flat">
                <a:solidFill>
                  <a:srgbClr val="D4A5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2021</c:v>
                  </c:pt>
                  <c:pt idx="10">
                    <c:v>2022</c:v>
                  </c:pt>
                  <c:pt idx="11">
                    <c:v>2023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0.606</c:v>
                </c:pt>
                <c:pt idx="1">
                  <c:v>0.613</c:v>
                </c:pt>
                <c:pt idx="2">
                  <c:v>0.623</c:v>
                </c:pt>
                <c:pt idx="3">
                  <c:v>0.63</c:v>
                </c:pt>
                <c:pt idx="4">
                  <c:v>0.647</c:v>
                </c:pt>
                <c:pt idx="5">
                  <c:v>0.666</c:v>
                </c:pt>
                <c:pt idx="6">
                  <c:v>0.67</c:v>
                </c:pt>
                <c:pt idx="7">
                  <c:v>0.678</c:v>
                </c:pt>
                <c:pt idx="8">
                  <c:v>0.681</c:v>
                </c:pt>
                <c:pt idx="9">
                  <c:v>0.689</c:v>
                </c:pt>
                <c:pt idx="10">
                  <c:v>0.693</c:v>
                </c:pt>
                <c:pt idx="11">
                  <c:v>0.699</c:v>
                </c:pt>
                <c:pt idx="12">
                  <c:v>0.708</c:v>
                </c:pt>
                <c:pt idx="13">
                  <c:v>0.719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Softball</c:v>
                </c:pt>
              </c:strCache>
            </c:strRef>
          </c:tx>
          <c:spPr>
            <a:solidFill>
              <a:srgbClr val="1B4965"/>
            </a:solidFill>
            <a:ln w="31750" cap="flat">
              <a:solidFill>
                <a:srgbClr val="1B496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4965"/>
              </a:solidFill>
              <a:ln w="9525" cap="flat">
                <a:solidFill>
                  <a:srgbClr val="1B496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2021</c:v>
                  </c:pt>
                  <c:pt idx="10">
                    <c:v>2022</c:v>
                  </c:pt>
                  <c:pt idx="11">
                    <c:v>2023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0.425</c:v>
                </c:pt>
                <c:pt idx="1">
                  <c:v>0.432</c:v>
                </c:pt>
                <c:pt idx="2">
                  <c:v>0.443</c:v>
                </c:pt>
                <c:pt idx="3">
                  <c:v>0.469</c:v>
                </c:pt>
                <c:pt idx="4">
                  <c:v>0.471</c:v>
                </c:pt>
                <c:pt idx="5">
                  <c:v>0.483</c:v>
                </c:pt>
                <c:pt idx="6">
                  <c:v>0.496</c:v>
                </c:pt>
                <c:pt idx="7">
                  <c:v>0.506</c:v>
                </c:pt>
                <c:pt idx="8">
                  <c:v>0.518</c:v>
                </c:pt>
                <c:pt idx="9">
                  <c:v>0.521</c:v>
                </c:pt>
                <c:pt idx="10">
                  <c:v>0.54</c:v>
                </c:pt>
                <c:pt idx="11">
                  <c:v>0.545</c:v>
                </c:pt>
                <c:pt idx="12">
                  <c:v>0.548</c:v>
                </c:pt>
                <c:pt idx="13">
                  <c:v>0.55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Volleyball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2021</c:v>
                  </c:pt>
                  <c:pt idx="10">
                    <c:v>2022</c:v>
                  </c:pt>
                  <c:pt idx="11">
                    <c:v>2023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0.462</c:v>
                </c:pt>
                <c:pt idx="1">
                  <c:v>0.469</c:v>
                </c:pt>
                <c:pt idx="2">
                  <c:v>0.493</c:v>
                </c:pt>
                <c:pt idx="3">
                  <c:v>0.516</c:v>
                </c:pt>
                <c:pt idx="4">
                  <c:v>0.541</c:v>
                </c:pt>
                <c:pt idx="5">
                  <c:v>0.546</c:v>
                </c:pt>
                <c:pt idx="6">
                  <c:v>0.552</c:v>
                </c:pt>
                <c:pt idx="7">
                  <c:v>0.573</c:v>
                </c:pt>
                <c:pt idx="8">
                  <c:v>0.586</c:v>
                </c:pt>
                <c:pt idx="9">
                  <c:v>0.584</c:v>
                </c:pt>
                <c:pt idx="10">
                  <c:v>0.597</c:v>
                </c:pt>
                <c:pt idx="11">
                  <c:v>0.603</c:v>
                </c:pt>
                <c:pt idx="12">
                  <c:v>0.614</c:v>
                </c:pt>
                <c:pt idx="13">
                  <c:v>0.614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35"/>
        </c:scaling>
        <c:delete val="0"/>
        <c:axPos val="l"/>
        <c:majorGridlines>
          <c:spPr>
            <a:ln w="6350" cap="flat">
              <a:solidFill>
                <a:srgbClr val="E8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C757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 Coaches (est.)</c:v>
                </c:pt>
              </c:strCache>
            </c:strRef>
          </c:tx>
          <c:spPr>
            <a:solidFill>
              <a:srgbClr val="2D4057"/>
            </a:solidFill>
            <a:ln w="31750" cap="flat">
              <a:solidFill>
                <a:srgbClr val="2D40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4057"/>
              </a:solidFill>
              <a:ln w="9525" cap="flat">
                <a:solidFill>
                  <a:srgbClr val="2D40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2021</c:v>
                  </c:pt>
                  <c:pt idx="10">
                    <c:v>2022</c:v>
                  </c:pt>
                  <c:pt idx="11">
                    <c:v>2023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348</c:v>
                </c:pt>
                <c:pt idx="1">
                  <c:v>349</c:v>
                </c:pt>
                <c:pt idx="2">
                  <c:v>350</c:v>
                </c:pt>
                <c:pt idx="3">
                  <c:v>351</c:v>
                </c:pt>
                <c:pt idx="4">
                  <c:v>352</c:v>
                </c:pt>
                <c:pt idx="5">
                  <c:v>353</c:v>
                </c:pt>
                <c:pt idx="6">
                  <c:v>354</c:v>
                </c:pt>
                <c:pt idx="7">
                  <c:v>355</c:v>
                </c:pt>
                <c:pt idx="8">
                  <c:v>356</c:v>
                </c:pt>
                <c:pt idx="9">
                  <c:v>357</c:v>
                </c:pt>
                <c:pt idx="10">
                  <c:v>358</c:v>
                </c:pt>
                <c:pt idx="11">
                  <c:v>358</c:v>
                </c:pt>
                <c:pt idx="12">
                  <c:v>359</c:v>
                </c:pt>
                <c:pt idx="13">
                  <c:v>359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Assistant Coaches (est.)</c:v>
                </c:pt>
              </c:strCache>
            </c:strRef>
          </c:tx>
          <c:spPr>
            <a:solidFill>
              <a:srgbClr val="4A6FA5"/>
            </a:solidFill>
            <a:ln w="31750" cap="flat">
              <a:solidFill>
                <a:srgbClr val="4A6F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6FA5"/>
              </a:solidFill>
              <a:ln w="9525" cap="flat">
                <a:solidFill>
                  <a:srgbClr val="4A6F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2012</c:v>
                  </c:pt>
                  <c:pt idx="1">
                    <c:v>2013</c:v>
                  </c:pt>
                  <c:pt idx="2">
                    <c:v>2014</c:v>
                  </c:pt>
                  <c:pt idx="3">
                    <c:v>2015</c:v>
                  </c:pt>
                  <c:pt idx="4">
                    <c:v>2016</c:v>
                  </c:pt>
                  <c:pt idx="5">
                    <c:v>2017</c:v>
                  </c:pt>
                  <c:pt idx="6">
                    <c:v>2018</c:v>
                  </c:pt>
                  <c:pt idx="7">
                    <c:v>2019</c:v>
                  </c:pt>
                  <c:pt idx="8">
                    <c:v>2020</c:v>
                  </c:pt>
                  <c:pt idx="9">
                    <c:v>2021</c:v>
                  </c:pt>
                  <c:pt idx="10">
                    <c:v>2022</c:v>
                  </c:pt>
                  <c:pt idx="11">
                    <c:v>2023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1058</c:v>
                </c:pt>
                <c:pt idx="1">
                  <c:v>1057</c:v>
                </c:pt>
                <c:pt idx="2">
                  <c:v>1050</c:v>
                </c:pt>
                <c:pt idx="3">
                  <c:v>1060</c:v>
                </c:pt>
                <c:pt idx="4">
                  <c:v>1052</c:v>
                </c:pt>
                <c:pt idx="5">
                  <c:v>1073</c:v>
                </c:pt>
                <c:pt idx="6">
                  <c:v>1066</c:v>
                </c:pt>
                <c:pt idx="7">
                  <c:v>1090</c:v>
                </c:pt>
                <c:pt idx="8">
                  <c:v>1079</c:v>
                </c:pt>
                <c:pt idx="9">
                  <c:v>1067</c:v>
                </c:pt>
                <c:pt idx="10">
                  <c:v>1070</c:v>
                </c:pt>
                <c:pt idx="11">
                  <c:v>1117</c:v>
                </c:pt>
                <c:pt idx="12">
                  <c:v>1350</c:v>
                </c:pt>
                <c:pt idx="13">
                  <c:v>1407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8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C757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Coach–Athlete Gap (pp)</c:v>
                </c:pt>
              </c:strCache>
            </c:strRef>
          </c:tx>
          <c:spPr>
            <a:solidFill>
              <a:srgbClr val="F4C8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C8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4C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4C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DADA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4C9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4C9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White</c:v>
                  </c:pt>
                  <c:pt idx="1">
                    <c:v>Black/AA</c:v>
                  </c:pt>
                  <c:pt idx="2">
                    <c:v>Hispanic/Latino</c:v>
                  </c:pt>
                  <c:pt idx="3">
                    <c:v>Asian</c:v>
                  </c:pt>
                  <c:pt idx="4">
                    <c:v>International</c:v>
                  </c:pt>
                  <c:pt idx="5">
                    <c:v>Two or More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13.4</c:v>
                </c:pt>
                <c:pt idx="1">
                  <c:v>-1</c:v>
                </c:pt>
                <c:pt idx="2">
                  <c:v>-1.6</c:v>
                </c:pt>
                <c:pt idx="3">
                  <c:v>0.7</c:v>
                </c:pt>
                <c:pt idx="4">
                  <c:v>-4.4</c:v>
                </c:pt>
                <c:pt idx="5">
                  <c:v>-7.6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-12"/>
        </c:scaling>
        <c:delete val="0"/>
        <c:axPos val="b"/>
        <c:majorGridlines>
          <c:spPr>
            <a:ln w="6350" cap="flat">
              <a:solidFill>
                <a:srgbClr val="E8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Asst Coach %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White</c:v>
                  </c:pt>
                  <c:pt idx="1">
                    <c:v>Black/AA</c:v>
                  </c:pt>
                  <c:pt idx="2">
                    <c:v>Hisp/Latino</c:v>
                  </c:pt>
                  <c:pt idx="3">
                    <c:v>Asian</c:v>
                  </c:pt>
                  <c:pt idx="4">
                    <c:v>Intl</c:v>
                  </c:pt>
                  <c:pt idx="5">
                    <c:v>Two or More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</c:v>
                </c:pt>
                <c:pt idx="1">
                  <c:v>30</c:v>
                </c:pt>
                <c:pt idx="2">
                  <c:v>5</c:v>
                </c:pt>
                <c:pt idx="3">
                  <c:v>2</c:v>
                </c:pt>
                <c:pt idx="4">
                  <c:v>4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Head Coach %</c:v>
                </c:pt>
              </c:strCache>
            </c:strRef>
          </c:tx>
          <c:spPr>
            <a:solidFill>
              <a:srgbClr val="2D405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White</c:v>
                  </c:pt>
                  <c:pt idx="1">
                    <c:v>Black/AA</c:v>
                  </c:pt>
                  <c:pt idx="2">
                    <c:v>Hisp/Latino</c:v>
                  </c:pt>
                  <c:pt idx="3">
                    <c:v>Asian</c:v>
                  </c:pt>
                  <c:pt idx="4">
                    <c:v>Intl</c:v>
                  </c:pt>
                  <c:pt idx="5">
                    <c:v>Two or More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69.6</c:v>
                </c:pt>
                <c:pt idx="1">
                  <c:v>16.7</c:v>
                </c:pt>
                <c:pt idx="2">
                  <c:v>3.1</c:v>
                </c:pt>
                <c:pt idx="3">
                  <c:v>0.8999999999999999</c:v>
                </c:pt>
                <c:pt idx="4">
                  <c:v>3.1</c:v>
                </c:pt>
                <c:pt idx="5">
                  <c:v>6.1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b"/>
        <c:majorGridlines>
          <c:spPr>
            <a:ln w="6350" cap="flat">
              <a:solidFill>
                <a:srgbClr val="E8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C757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Asst Coach %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White</c:v>
                  </c:pt>
                  <c:pt idx="1">
                    <c:v>Black/AA</c:v>
                  </c:pt>
                  <c:pt idx="2">
                    <c:v>Hisp/Latino</c:v>
                  </c:pt>
                  <c:pt idx="3">
                    <c:v>Asian</c:v>
                  </c:pt>
                  <c:pt idx="4">
                    <c:v>Intl</c:v>
                  </c:pt>
                  <c:pt idx="5">
                    <c:v>Two or More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</c:v>
                </c:pt>
                <c:pt idx="1">
                  <c:v>6</c:v>
                </c:pt>
                <c:pt idx="2">
                  <c:v>7</c:v>
                </c:pt>
                <c:pt idx="3">
                  <c:v>2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Head Coach %</c:v>
                </c:pt>
              </c:strCache>
            </c:strRef>
          </c:tx>
          <c:spPr>
            <a:solidFill>
              <a:srgbClr val="2D405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White</c:v>
                  </c:pt>
                  <c:pt idx="1">
                    <c:v>Black/AA</c:v>
                  </c:pt>
                  <c:pt idx="2">
                    <c:v>Hisp/Latino</c:v>
                  </c:pt>
                  <c:pt idx="3">
                    <c:v>Asian</c:v>
                  </c:pt>
                  <c:pt idx="4">
                    <c:v>Intl</c:v>
                  </c:pt>
                  <c:pt idx="5">
                    <c:v>Two or More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84.1</c:v>
                </c:pt>
                <c:pt idx="1">
                  <c:v>7.5</c:v>
                </c:pt>
                <c:pt idx="2">
                  <c:v>4.2</c:v>
                </c:pt>
                <c:pt idx="3">
                  <c:v>1.4</c:v>
                </c:pt>
                <c:pt idx="4">
                  <c:v>3.2</c:v>
                </c:pt>
                <c:pt idx="5">
                  <c:v>0.6000000000000001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b"/>
        <c:majorGridlines>
          <c:spPr>
            <a:ln w="6350" cap="flat">
              <a:solidFill>
                <a:srgbClr val="E8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C757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Asst Coach %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White</c:v>
                  </c:pt>
                  <c:pt idx="1">
                    <c:v>Black/AA</c:v>
                  </c:pt>
                  <c:pt idx="2">
                    <c:v>Hisp/Latino</c:v>
                  </c:pt>
                  <c:pt idx="3">
                    <c:v>Asian</c:v>
                  </c:pt>
                  <c:pt idx="4">
                    <c:v>Intl</c:v>
                  </c:pt>
                  <c:pt idx="5">
                    <c:v>Two or More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</c:v>
                </c:pt>
                <c:pt idx="1">
                  <c:v>8</c:v>
                </c:pt>
                <c:pt idx="2">
                  <c:v>6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Head Coach %</c:v>
                </c:pt>
              </c:strCache>
            </c:strRef>
          </c:tx>
          <c:spPr>
            <a:solidFill>
              <a:srgbClr val="2D405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White</c:v>
                  </c:pt>
                  <c:pt idx="1">
                    <c:v>Black/AA</c:v>
                  </c:pt>
                  <c:pt idx="2">
                    <c:v>Hisp/Latino</c:v>
                  </c:pt>
                  <c:pt idx="3">
                    <c:v>Asian</c:v>
                  </c:pt>
                  <c:pt idx="4">
                    <c:v>Intl</c:v>
                  </c:pt>
                  <c:pt idx="5">
                    <c:v>Two or More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79.4</c:v>
                </c:pt>
                <c:pt idx="1">
                  <c:v>6.8</c:v>
                </c:pt>
                <c:pt idx="2">
                  <c:v>4.2</c:v>
                </c:pt>
                <c:pt idx="3">
                  <c:v>1.7</c:v>
                </c:pt>
                <c:pt idx="4">
                  <c:v>3.5</c:v>
                </c:pt>
                <c:pt idx="5">
                  <c:v>5.9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b"/>
        <c:majorGridlines>
          <c:spPr>
            <a:ln w="6350" cap="flat">
              <a:solidFill>
                <a:srgbClr val="E8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C757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17145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14500"/>
            <a:ext cx="347472" cy="171450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347472" cy="1714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56692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NCAA Division 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30352" y="124358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Coaching Pipeline &amp;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30352" y="19202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Demographic Analysis 🏀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30352" y="2761488"/>
            <a:ext cx="3474720" cy="0"/>
          </a:xfrm>
          <a:prstGeom prst="line">
            <a:avLst/>
          </a:prstGeom>
          <a:noFill/>
          <a:ln w="25400">
            <a:solidFill>
              <a:srgbClr val="D4A5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834640"/>
            <a:ext cx="1024128" cy="256032"/>
          </a:xfrm>
          <a:prstGeom prst="roundRect">
            <a:avLst>
              <a:gd name="adj" fmla="val 178571"/>
            </a:avLst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8346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🏀 WBB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64208" y="2834640"/>
            <a:ext cx="1097280" cy="256032"/>
          </a:xfrm>
          <a:prstGeom prst="roundRect">
            <a:avLst>
              <a:gd name="adj" fmla="val 178571"/>
            </a:avLst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64208" y="2834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🦎 Softball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71216" y="2834640"/>
            <a:ext cx="1097280" cy="256032"/>
          </a:xfrm>
          <a:prstGeom prst="roundRect">
            <a:avLst>
              <a:gd name="adj" fmla="val 17857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71216" y="2834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🏐 Volleyball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78224" y="2834640"/>
            <a:ext cx="914400" cy="256032"/>
          </a:xfrm>
          <a:prstGeom prst="roundRect">
            <a:avLst>
              <a:gd name="adj" fmla="val 178571"/>
            </a:avLst>
          </a:prstGeom>
          <a:solidFill>
            <a:srgbClr val="9AAABB"/>
          </a:solidFill>
          <a:ln w="12700">
            <a:solidFill>
              <a:srgbClr val="9AAA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78224" y="2834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2012–2025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" y="3364992"/>
            <a:ext cx="2560320" cy="365760"/>
          </a:xfrm>
          <a:prstGeom prst="roundRect">
            <a:avLst>
              <a:gd name="adj" fmla="val 125000"/>
            </a:avLst>
          </a:prstGeom>
          <a:solidFill>
            <a:srgbClr val="E88D67"/>
          </a:solidFill>
          <a:ln w="12700">
            <a:solidFill>
              <a:srgbClr val="E88D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364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Sports Analytics Research Portfolio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4681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A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NCAA Demographics Database (2011–12 to 2024–25)  •  NCAA.org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"/>
            <a:ext cx="50292" cy="329184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1280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DFE2F0"/>
          </a:solidFill>
          <a:ln w="12700">
            <a:solidFill>
              <a:srgbClr val="DF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NCAA Demographics Database (2011–12 to 2024–25)  •  Published 2025  •  NCAA.org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4828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/ 16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603504"/>
            <a:ext cx="82296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 coaching staffs evolving as quickly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athlete populations?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8229600" cy="0"/>
          </a:xfrm>
          <a:prstGeom prst="line">
            <a:avLst/>
          </a:prstGeom>
          <a:noFill/>
          <a:ln w="6350">
            <a:solidFill>
              <a:srgbClr val="C8CB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67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 investigated: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39136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15184"/>
            <a:ext cx="64008" cy="91440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67004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5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🏃‍♀️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" y="296265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5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87552" y="2670048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Athlete Diversity Trends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" y="310896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is racial/ethnic composition of athlete rosters changing over time?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81728" y="2615184"/>
            <a:ext cx="39136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2615184"/>
            <a:ext cx="64008" cy="91440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267004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49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👩‍🏫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9744" y="296265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9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12080" y="2670048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Coaching Diversity Trends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3108960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 coaching staffs becoming more racially representative over time?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675888"/>
            <a:ext cx="39136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675888"/>
            <a:ext cx="64008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373075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🔄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5216" y="402336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87552" y="37307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Promotion Pipeline Structure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7552" y="4169664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 assistants gaining access to head coaching positions proportionally?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81728" y="3675888"/>
            <a:ext cx="39136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81728" y="3675888"/>
            <a:ext cx="64008" cy="914400"/>
          </a:xfrm>
          <a:prstGeom prst="rect">
            <a:avLst/>
          </a:prstGeom>
          <a:solidFill>
            <a:srgbClr val="2D4057"/>
          </a:solidFill>
          <a:ln w="12700">
            <a:solidFill>
              <a:srgbClr val="2D40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373075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4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📊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09744" y="402336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4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12080" y="37307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Leadership Access by Race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4169664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gains head coach promotions — and who doesn’t?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"/>
            <a:ext cx="50292" cy="329184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1280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FOUNDATION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About the Data 🗄️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DFE2F0"/>
          </a:solidFill>
          <a:ln w="12700">
            <a:solidFill>
              <a:srgbClr val="DF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NCAA Demographics Database (2011–12 to 2024–25)  •  Published 2025  •  NCAA.org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/ 16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316736"/>
            <a:ext cx="4480560" cy="3218688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146304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NCAA Demographics Database
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NCAA tracks coaching and athletic participation data across all Division I programs annually under Title IX and EADA disclosure requirements.
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analysis covers 17,332 records spanning 14 academic years (2011–12 to 2024–25) across Women’s Basketball, Softball, and Volleyball.
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metrics: Simpson Diversity Index (SDI), coach–athlete representation gaps, head-vs-assistant promotion gaps, and gender representation by sport.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166360" y="10607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Overview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66360" y="1316736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21808" y="1380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🏀  Women’s Basketball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21808" y="169164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5,153 athletes  •  1,766 coaches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21808" y="192938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2012–2025  •  Division 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166360" y="2505456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21808" y="2569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🦎  Softball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21808" y="28803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6,956 athletes  •  1,040 coaches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21808" y="311810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2012–2025  •  Division 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166360" y="3694176"/>
            <a:ext cx="3520440" cy="914400"/>
          </a:xfrm>
          <a:prstGeom prst="roundRect">
            <a:avLst>
              <a:gd name="adj" fmla="val 7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21808" y="37581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🏐  Volleyball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21808" y="406908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6,454 athletes  •  1,110 coaches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21808" y="430682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2012–2025  •  Division 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"/>
            <a:ext cx="50292" cy="329184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1280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DFE2F0"/>
          </a:solidFill>
          <a:ln w="12700">
            <a:solidFill>
              <a:srgbClr val="DF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NCAA Demographics Database (2011–12 to 2024–25)  •  Published 2025  •  NCAA.org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16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8D67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“Athlete diversity is rising faster than coaching leadership representation.”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82496"/>
            <a:ext cx="393192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82496"/>
            <a:ext cx="73152" cy="1353312"/>
          </a:xfrm>
          <a:prstGeom prst="rect">
            <a:avLst/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92224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0.627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🌍  Athlete Diversity (SDI)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67004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+26% since 2012 • all sports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682496"/>
            <a:ext cx="393192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682496"/>
            <a:ext cx="73152" cy="1353312"/>
          </a:xfrm>
          <a:prstGeom prst="rect">
            <a:avLst/>
          </a:prstGeom>
          <a:solidFill>
            <a:srgbClr val="2D4057"/>
          </a:solidFill>
          <a:ln w="12700">
            <a:solidFill>
              <a:srgbClr val="2D40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792224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0.466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37760" y="2377440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👩‍🏫  Coach Diversity (SDI)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67004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+31% since 2012 • all roles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93192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91840"/>
            <a:ext cx="73152" cy="1353312"/>
          </a:xfrm>
          <a:prstGeom prst="rect">
            <a:avLst/>
          </a:prstGeom>
          <a:solidFill>
            <a:srgbClr val="C2842E"/>
          </a:solidFill>
          <a:ln w="12700">
            <a:solidFill>
              <a:srgbClr val="C284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01568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+13.4pp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40080" y="3986784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⚖️  White Coach–Athlete Gap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279392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Avg. overrepresentation • 2025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291840"/>
            <a:ext cx="393192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291840"/>
            <a:ext cx="73152" cy="1353312"/>
          </a:xfrm>
          <a:prstGeom prst="rect">
            <a:avLst/>
          </a:prstGeom>
          <a:solidFill>
            <a:srgbClr val="6B4C9A"/>
          </a:solidFill>
          <a:ln w="12700">
            <a:solidFill>
              <a:srgbClr val="6B4C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401568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−4.3pp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4937760" y="3986784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🚧  Black/AA Promotion Gap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279392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 vs. Asst Coach • 2025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2842E"/>
          </a:solidFill>
          <a:ln w="12700">
            <a:solidFill>
              <a:srgbClr val="C28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E88D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SIGNATURE FINDING  🚧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Promotion Bottleneck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16736"/>
            <a:ext cx="3931920" cy="2103120"/>
          </a:xfrm>
          <a:prstGeom prst="rect">
            <a:avLst/>
          </a:prstGeom>
          <a:solidFill>
            <a:srgbClr val="C2842E">
              <a:alpha val="10000"/>
            </a:srgbClr>
          </a:solidFill>
          <a:ln w="19050">
            <a:solidFill>
              <a:srgbClr val="C28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08176"/>
            <a:ext cx="39319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284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−13.3pp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WBB Black/AA Promotion Gap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98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 Coach % vs. Assistant Coach %  • 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2842E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← structural barrier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1207008" cy="365760"/>
          </a:xfrm>
          <a:prstGeom prst="rect">
            <a:avLst/>
          </a:prstGeom>
          <a:solidFill>
            <a:srgbClr val="AED9E0">
              <a:alpha val="75000"/>
            </a:srgbClr>
          </a:solidFill>
          <a:ln w="12700">
            <a:solidFill>
              <a:srgbClr val="AED9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Athletes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95020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A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18,563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73352" y="36393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20240" y="3566160"/>
            <a:ext cx="1005840" cy="365760"/>
          </a:xfrm>
          <a:prstGeom prst="rect">
            <a:avLst/>
          </a:prstGeom>
          <a:solidFill>
            <a:srgbClr val="4A6FA5">
              <a:alpha val="75000"/>
            </a:srgbClr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3566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Assistants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20240" y="39502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A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~2,902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935224" y="363931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90672" y="3566160"/>
            <a:ext cx="822960" cy="365760"/>
          </a:xfrm>
          <a:prstGeom prst="rect">
            <a:avLst/>
          </a:prstGeom>
          <a:solidFill>
            <a:srgbClr val="2D4057"/>
          </a:solidFill>
          <a:ln w="12700">
            <a:solidFill>
              <a:srgbClr val="2D40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 Coaches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90672" y="39502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A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~1,014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090672" y="41879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284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🚧 bottleneck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63440" y="1316736"/>
            <a:ext cx="4069080" cy="1682496"/>
          </a:xfrm>
          <a:prstGeom prst="rect">
            <a:avLst/>
          </a:prstGeom>
          <a:solidFill>
            <a:srgbClr val="223050"/>
          </a:solidFill>
          <a:ln w="12700">
            <a:solidFill>
              <a:srgbClr val="33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42646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Assistant-level diversity does not translate to head coach leadership.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28032" y="212140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2D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Women’s Basketball, Black and African American coaches represent a higher share of assistant positions than head coach positions by 13.3 percentage points — the clearest indicator of a structural barrier at the leadership tier.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28032" y="30540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88D67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the bottleneck ↓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663440" y="3529584"/>
            <a:ext cx="4069080" cy="969264"/>
          </a:xfrm>
          <a:prstGeom prst="rect">
            <a:avLst/>
          </a:prstGeom>
          <a:solidFill>
            <a:srgbClr val="6B4C9A">
              <a:alpha val="12000"/>
            </a:srgbClr>
          </a:solidFill>
          <a:ln w="19050">
            <a:solidFill>
              <a:srgbClr val="6B4C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60273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2D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Gaps ≥10pp signal systemic disparity, not random variation.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28032" y="4114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A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Compare: Softball +1.5pp  •  Volleyball −1.2pp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8A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NCAA Demographics Database (2011–12 to 2024–25)  •  NCAA.org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321040" y="4828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16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"/>
            <a:ext cx="50292" cy="329184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1280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NCAA Coaching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DFE2F0"/>
          </a:solidFill>
          <a:ln w="12700">
            <a:solidFill>
              <a:srgbClr val="DF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NCAA Demographics Database (2011–12 to 2024–25)  •  Published 2025  •  NCAA.org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24358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every Head Coach position, there are 2.9 Assistant Coaches and 18.5 athletes. The pipeline is widening at the bottom and narrowing at the top.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43000" y="1042416"/>
            <a:ext cx="6858000" cy="749808"/>
          </a:xfrm>
          <a:prstGeom prst="rect">
            <a:avLst/>
          </a:prstGeom>
          <a:solidFill>
            <a:srgbClr val="AED9E0">
              <a:alpha val="85000"/>
            </a:srgbClr>
          </a:solidFill>
          <a:ln w="12700">
            <a:solidFill>
              <a:srgbClr val="AED9E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104241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Athletes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46304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18,563 across all 3 sports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110728" y="11338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ED9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18,563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10728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athletes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0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B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14600" y="2048256"/>
            <a:ext cx="4114800" cy="749808"/>
          </a:xfrm>
          <a:prstGeom prst="rect">
            <a:avLst/>
          </a:prstGeom>
          <a:solidFill>
            <a:srgbClr val="4A6FA5">
              <a:alpha val="85000"/>
            </a:srgbClr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14600" y="204825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Assistant Coaches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14600" y="24688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~2,902 assistants (est.)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39128" y="21396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6F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~2,902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39128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athletes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89120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B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49040" y="3054096"/>
            <a:ext cx="1645920" cy="749808"/>
          </a:xfrm>
          <a:prstGeom prst="rect">
            <a:avLst/>
          </a:prstGeom>
          <a:solidFill>
            <a:srgbClr val="2D4057"/>
          </a:solidFill>
          <a:ln w="12700">
            <a:solidFill>
              <a:srgbClr val="2D405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49040" y="30540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 Coaches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49040" y="34747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~1,014 head coaches (est.)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04688" y="31455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4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~1,014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04688" y="3474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athletes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687568" y="2871216"/>
            <a:ext cx="3108960" cy="1060704"/>
          </a:xfrm>
          <a:prstGeom prst="rect">
            <a:avLst/>
          </a:prstGeom>
          <a:solidFill>
            <a:srgbClr val="C2842E">
              <a:alpha val="8000"/>
            </a:srgbClr>
          </a:solidFill>
          <a:ln w="19050">
            <a:solidFill>
              <a:srgbClr val="C284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92608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284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🚧 Bottleneck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3218688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HC seats are not growing as fast as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assistant positions — access narrows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the leadership tier.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68496"/>
            <a:ext cx="2560320" cy="621792"/>
          </a:xfrm>
          <a:prstGeom prst="rect">
            <a:avLst/>
          </a:prstGeom>
          <a:solidFill>
            <a:srgbClr val="F2F1F6"/>
          </a:solidFill>
          <a:ln w="6350">
            <a:solidFill>
              <a:srgbClr val="C8CB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041648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WBB 2012: </a:t>
            </a:r>
            <a:pPr algn="l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3.04x ratio  </a:t>
            </a:r>
            <a:pPr algn="l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WBB 2025: </a:t>
            </a:r>
            <a:pPr algn="l" indent="0" marL="0">
              <a:buNone/>
            </a:pPr>
            <a:r>
              <a:rPr lang="en-US" sz="900" b="1" dirty="0">
                <a:solidFill>
                  <a:srgbClr val="D4A5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3.92x ratio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"/>
            <a:ext cx="1389888" cy="256032"/>
          </a:xfrm>
          <a:prstGeom prst="roundRect">
            <a:avLst>
              <a:gd name="adj" fmla="val 178571"/>
            </a:avLst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 1  OF 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Athlete Diversity Is Rising 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DFE2F0"/>
          </a:solidFill>
          <a:ln w="12700">
            <a:solidFill>
              <a:srgbClr val="DF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NCAA Demographics Database (2011–12 to 2024–25)  •  Published 2025  •  NCAA.org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Simpson Diversity Index has climbed steadily across all three sports since 2012, with Women’s Basketball leading at 0.719 — the most diverse athlete population in the dataset.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664208" cy="804672"/>
          </a:xfrm>
          <a:prstGeom prst="roundRect">
            <a:avLst>
              <a:gd name="adj" fmla="val 9091"/>
            </a:avLst>
          </a:prstGeom>
          <a:solidFill>
            <a:srgbClr val="D4A574">
              <a:alpha val="12000"/>
            </a:srgbClr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14016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+26%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88950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WBB athlete SDI since 2012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31136" y="2377440"/>
            <a:ext cx="1664208" cy="804672"/>
          </a:xfrm>
          <a:prstGeom prst="roundRect">
            <a:avLst>
              <a:gd name="adj" fmla="val 9091"/>
            </a:avLst>
          </a:prstGeom>
          <a:solidFill>
            <a:srgbClr val="1B4965">
              <a:alpha val="12000"/>
            </a:srgbClr>
          </a:solidFill>
          <a:ln w="19050">
            <a:solidFill>
              <a:srgbClr val="1B49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31136" y="2414016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9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+29%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231136" y="288950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9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Softball SDI since 2012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310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WBB: 0.606 (2012) → 0.719 (2025)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547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Volleyball: 0.462 (2012) → 0.614 (2025)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ED9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WBB now has the most diverse athlete population of the three sports.</a:t>
            </a:r>
            <a:endParaRPr lang="en-US" sz="9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343400" y="1170432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"/>
            <a:ext cx="1389888" cy="256032"/>
          </a:xfrm>
          <a:prstGeom prst="roundRect">
            <a:avLst>
              <a:gd name="adj" fmla="val 178571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 2  OF 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Staff Growth Without Leadership Access 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DFE2F0"/>
          </a:solidFill>
          <a:ln w="12700">
            <a:solidFill>
              <a:srgbClr val="DF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NCAA Demographics Database (2011–12 to 2024–25)  •  Published 2025  •  NCAA.org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16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WBB Coach Counts Over Time (est., WBB only)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170432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303520" y="126187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WBB, estimated assistant coach counts rose +33% from 2012–2025 while head coach positions grew only +3% — creating a widening bottleneck at the top of the pipeline.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03520" y="2395728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D4A574">
              <a:alpha val="12000"/>
            </a:srgbClr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0" y="243230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5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3.04→3.92x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303520" y="2907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WBB asst-to-head ratio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303520" y="33649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WBB now employs nearly 4 assistant coaches for every 1 head coach position.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"/>
            <a:ext cx="1389888" cy="256032"/>
          </a:xfrm>
          <a:prstGeom prst="roundRect">
            <a:avLst>
              <a:gd name="adj" fmla="val 178571"/>
            </a:avLst>
          </a:prstGeom>
          <a:solidFill>
            <a:srgbClr val="C2842E"/>
          </a:solidFill>
          <a:ln w="12700">
            <a:solidFill>
              <a:srgbClr val="C284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 3  OF 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Coaching Representation Lags Athlete Diversity ⚖️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DFE2F0"/>
          </a:solidFill>
          <a:ln w="12700">
            <a:solidFill>
              <a:srgbClr val="DF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NCAA Demographics Database (2011–12 to 2024–25)  •  Published 2025  •  NCAA.org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16</a:t>
            </a:r>
            <a:endParaRPr lang="en-US" sz="7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37160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5811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Positive = coaches overrepresented vs. athletes. Negative = underrepresented.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492240" y="1371600"/>
            <a:ext cx="2286000" cy="2103120"/>
          </a:xfrm>
          <a:prstGeom prst="rect">
            <a:avLst/>
          </a:prstGeom>
          <a:solidFill>
            <a:srgbClr val="C2842E">
              <a:alpha val="10000"/>
            </a:srgbClr>
          </a:solidFill>
          <a:ln w="19050">
            <a:solidFill>
              <a:srgbClr val="C284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148132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284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+13.4pp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492240" y="21031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84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White coach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284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overrepresentation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92240" y="26151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avg. across all 3 sports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2025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492240" y="3657600"/>
            <a:ext cx="2286000" cy="877824"/>
          </a:xfrm>
          <a:prstGeom prst="rect">
            <a:avLst/>
          </a:prstGeom>
          <a:solidFill>
            <a:srgbClr val="6B4C9A">
              <a:alpha val="8000"/>
            </a:srgbClr>
          </a:solidFill>
          <a:ln w="19050">
            <a:solidFill>
              <a:srgbClr val="6B4C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37124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4C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−7.6pp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49224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or More — 2025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"/>
            <a:ext cx="1389888" cy="256032"/>
          </a:xfrm>
          <a:prstGeom prst="roundRect">
            <a:avLst>
              <a:gd name="adj" fmla="val 178571"/>
            </a:avLst>
          </a:prstGeom>
          <a:solidFill>
            <a:srgbClr val="2D4057"/>
          </a:solidFill>
          <a:ln w="12700">
            <a:solidFill>
              <a:srgbClr val="2D4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FINDING  4  OF 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Female Leadership Has Plateaued 👩‍💼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DFE2F0"/>
          </a:solidFill>
          <a:ln w="12700">
            <a:solidFill>
              <a:srgbClr val="DF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NCAA Demographics Database (2011–12 to 2024–25)  •  Published 2025  •  NCAA.org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Women remain the majority of coaches across all three women’s sports, but WBB representation has plateaued around ~65%, suggesting a structural ceiling in leadership progression.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2606040" cy="2432304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38528"/>
            <a:ext cx="2606040" cy="34747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3852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37744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5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65.4%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66928" y="321868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Women Coaches • 2025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51129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Plateaued 63–66% for 13 years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38587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5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significant growth since 2012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91840" y="1938528"/>
            <a:ext cx="2606040" cy="2432304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938528"/>
            <a:ext cx="2606040" cy="347472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193852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Softball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01568" y="237744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49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73.5%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3401568" y="321868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Women Coaches • 2025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01568" y="351129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Consistently 71–74% range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938528"/>
            <a:ext cx="2606040" cy="2432304"/>
          </a:xfrm>
          <a:prstGeom prst="rect">
            <a:avLst/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938528"/>
            <a:ext cx="2606040" cy="3474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93852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Volleyball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36208" y="237744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53.2%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6236208" y="321868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Women Coaches • 2025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36208" y="351129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Lowest of the three sports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🏀  Women’s Basketball  —  Deep Dive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11 of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WBB has the most diverse athlete population (SDI 0.719) and highest staffing ratio (3.92x), yet shows the sharpest promotion cliff for Black/AA coaches (−13.3pp).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18745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16736"/>
            <a:ext cx="64008" cy="1170432"/>
          </a:xfrm>
          <a:prstGeom prst="rect">
            <a:avLst/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26464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5,153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1792" y="19385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Athletes (2025)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32888" y="1316736"/>
            <a:ext cx="18745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1316736"/>
            <a:ext cx="64008" cy="1170432"/>
          </a:xfrm>
          <a:prstGeom prst="rect">
            <a:avLst/>
          </a:prstGeom>
          <a:solidFill>
            <a:srgbClr val="2D4057"/>
          </a:solidFill>
          <a:ln w="12700">
            <a:solidFill>
              <a:srgbClr val="2D40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426464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65.4%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97480" y="19385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Women Coaches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18745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88336"/>
            <a:ext cx="64008" cy="117043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798064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0.719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" y="33101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Athlete SDI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" y="356616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+19% since 2012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32888" y="2688336"/>
            <a:ext cx="18745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32888" y="2688336"/>
            <a:ext cx="64008" cy="117043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798064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3.92x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697480" y="33101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Asst-to-Head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7315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 Representation by Race: Asst → Head Coach (est., 2025)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297680" y="1024128"/>
          <a:ext cx="4663440" cy="3547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4297680" y="458114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Estimated % share of asst. vs. head coach positions by race group. Divergence reveals promotion gaps.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DFE2F0"/>
          </a:solidFill>
          <a:ln w="12700">
            <a:solidFill>
              <a:srgbClr val="DFE2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NCAA Demographics Database (2011–12 to 2024–25)  •  Published 2025  •  NCAA.org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8321040" y="4828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16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🦎  Softball  —  Deep Dive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12 of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Softball shows the smallest overall promotion gap and highest women-coach representation (73.5%), but has the least diverse athlete population of the three sports (SDI 0.55).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18745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16736"/>
            <a:ext cx="64008" cy="1170432"/>
          </a:xfrm>
          <a:prstGeom prst="rect">
            <a:avLst/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26464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6,956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1792" y="19385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Athletes (2025)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32888" y="1316736"/>
            <a:ext cx="18745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1316736"/>
            <a:ext cx="64008" cy="1170432"/>
          </a:xfrm>
          <a:prstGeom prst="rect">
            <a:avLst/>
          </a:prstGeom>
          <a:solidFill>
            <a:srgbClr val="2D4057"/>
          </a:solidFill>
          <a:ln w="12700">
            <a:solidFill>
              <a:srgbClr val="2D40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426464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73.5%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97480" y="19385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Women Coaches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18745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88336"/>
            <a:ext cx="64008" cy="1170432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798064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0.550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" y="33101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Athlete SDI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" y="356616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+29% since 2012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32888" y="2688336"/>
            <a:ext cx="18745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32888" y="2688336"/>
            <a:ext cx="64008" cy="117043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798064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2.41x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697480" y="33101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Asst-to-Head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7315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 Representation by Race: Asst → Head Coach (est., 2025)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297680" y="1024128"/>
          <a:ext cx="4663440" cy="3547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4297680" y="458114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Estimated % share of asst. vs. head coach positions by race group. Divergence reveals promotion gaps.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DFE2F0"/>
          </a:solidFill>
          <a:ln w="12700">
            <a:solidFill>
              <a:srgbClr val="DFE2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NCAA Demographics Database (2011–12 to 2024–25)  •  Published 2025  •  NCAA.org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8321040" y="4828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16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🏐  Volleyball  —  Deep Dive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13 of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Volleyball has seen strong diversity growth (+33% SDI since 2012) but lags in female coaching representation at 53.2% — the lowest of the three sports.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18745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16736"/>
            <a:ext cx="64008" cy="1170432"/>
          </a:xfrm>
          <a:prstGeom prst="rect">
            <a:avLst/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26464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6,454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1792" y="19385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Athletes (2025)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32888" y="1316736"/>
            <a:ext cx="18745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1316736"/>
            <a:ext cx="64008" cy="1170432"/>
          </a:xfrm>
          <a:prstGeom prst="rect">
            <a:avLst/>
          </a:prstGeom>
          <a:solidFill>
            <a:srgbClr val="2D4057"/>
          </a:solidFill>
          <a:ln w="12700">
            <a:solidFill>
              <a:srgbClr val="2D40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426464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53.2%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97480" y="19385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Women Coaches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18745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88336"/>
            <a:ext cx="64008" cy="1170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798064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0.614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" y="33101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Athlete SDI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" y="356616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+33% since 2012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32888" y="2688336"/>
            <a:ext cx="18745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32888" y="2688336"/>
            <a:ext cx="64008" cy="117043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798064"/>
            <a:ext cx="1673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2.25x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697480" y="33101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Asst-to-Head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7315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 Representation by Race: Asst → Head Coach (est., 2025)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297680" y="1024128"/>
          <a:ext cx="4663440" cy="3547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4297680" y="458114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Estimated % share of asst. vs. head coach positions by race group. Divergence reveals promotion gaps.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DFE2F0"/>
          </a:solidFill>
          <a:ln w="12700">
            <a:solidFill>
              <a:srgbClr val="DFE2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NCAA Demographics Database (2011–12 to 2024–25)  •  Published 2025  •  NCAA.org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8321040" y="4828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/ 16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"/>
            <a:ext cx="50292" cy="329184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1280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Data Tells 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DFE2F0"/>
          </a:solidFill>
          <a:ln w="12700">
            <a:solidFill>
              <a:srgbClr val="DF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NCAA Demographics Database (2011–12 to 2024–25)  •  Published 2025  •  NCAA.org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57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16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3986784" cy="1444752"/>
          </a:xfrm>
          <a:prstGeom prst="rect">
            <a:avLst/>
          </a:prstGeom>
          <a:solidFill>
            <a:srgbClr val="F2F1F6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89888"/>
            <a:ext cx="3986784" cy="54864"/>
          </a:xfrm>
          <a:prstGeom prst="rect">
            <a:avLst/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" y="18288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D9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87552" y="1481328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Diversity at the Athlete Level Is Improving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7552" y="1956816"/>
            <a:ext cx="3346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Roster composition is becoming more representative. </a:t>
            </a:r>
            <a:pPr algn="l" indent="0" marL="0">
              <a:buNone/>
            </a:pPr>
            <a:r>
              <a:rPr lang="en-US" sz="950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SDI gains of 19–33% since 2012</a:t>
            </a:r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reflect structural shifts in recruiting and program development.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28032" y="1389888"/>
            <a:ext cx="3986784" cy="1444752"/>
          </a:xfrm>
          <a:prstGeom prst="rect">
            <a:avLst/>
          </a:prstGeom>
          <a:solidFill>
            <a:srgbClr val="F2F1F6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28032" y="1389888"/>
            <a:ext cx="3986784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F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58384" y="1481328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Staff Growth Is Not Creating Leadership Access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58384" y="1956816"/>
            <a:ext cx="3346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assistants are being hired (</a:t>
            </a:r>
            <a:pPr algn="l" indent="0" marL="0">
              <a:buNone/>
            </a:pPr>
            <a:r>
              <a:rPr lang="en-US" sz="950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WBB: 3.04→3.92x</a:t>
            </a:r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), but head coach seats are not expanding proportionally. The pipeline fills without opening at the top.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999232"/>
            <a:ext cx="3986784" cy="1444752"/>
          </a:xfrm>
          <a:prstGeom prst="rect">
            <a:avLst/>
          </a:prstGeom>
          <a:solidFill>
            <a:srgbClr val="F2F1F6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99232"/>
            <a:ext cx="3986784" cy="54864"/>
          </a:xfrm>
          <a:prstGeom prst="rect">
            <a:avLst/>
          </a:prstGeom>
          <a:solidFill>
            <a:srgbClr val="C2842E"/>
          </a:solidFill>
          <a:ln w="12700">
            <a:solidFill>
              <a:srgbClr val="C284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" y="34381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84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87552" y="3090672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Black/AA Coaches Face the Sharpest Promotion Cliff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7552" y="3566160"/>
            <a:ext cx="3346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WBB, the Black/AA promotion gap is </a:t>
            </a:r>
            <a:pPr algn="l" indent="0" marL="0">
              <a:buNone/>
            </a:pPr>
            <a:r>
              <a:rPr lang="en-US" sz="950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−13.3pp</a:t>
            </a:r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the clearest evidence of a structural barrier. Gaps ≥10pp signal systemic disparity, not variation.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28032" y="2999232"/>
            <a:ext cx="3986784" cy="1444752"/>
          </a:xfrm>
          <a:prstGeom prst="rect">
            <a:avLst/>
          </a:prstGeom>
          <a:solidFill>
            <a:srgbClr val="F2F1F6"/>
          </a:solidFill>
          <a:ln w="6350">
            <a:solidFill>
              <a:srgbClr val="C8CB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28032" y="2999232"/>
            <a:ext cx="3986784" cy="54864"/>
          </a:xfrm>
          <a:prstGeom prst="rect">
            <a:avLst/>
          </a:prstGeom>
          <a:solidFill>
            <a:srgbClr val="2D4057"/>
          </a:solidFill>
          <a:ln w="12700">
            <a:solidFill>
              <a:srgbClr val="2D40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👩‍💼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37760" y="34381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4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58384" y="3090672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35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Female Coaching Representation Has Stalled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58384" y="3566160"/>
            <a:ext cx="3346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Despite women comprising </a:t>
            </a:r>
            <a:pPr algn="l" indent="0" marL="0">
              <a:buNone/>
            </a:pPr>
            <a:r>
              <a:rPr lang="en-US" sz="950" b="1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65–73% of coaches</a:t>
            </a:r>
            <a:pPr algn="l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this share has not grown significantly over 13 seasons — plateauing well below proportional representation.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8D67"/>
          </a:solidFill>
          <a:ln w="12700">
            <a:solidFill>
              <a:srgbClr val="E88D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16916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55648"/>
            <a:ext cx="347472" cy="169164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447288"/>
            <a:ext cx="347472" cy="16916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011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E88D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  🎯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621792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NCAA women’s coaching pipeline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expanding at the assistant level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but narrowing at the leadership level.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30352" y="2651760"/>
            <a:ext cx="3291840" cy="0"/>
          </a:xfrm>
          <a:prstGeom prst="line">
            <a:avLst/>
          </a:prstGeom>
          <a:noFill/>
          <a:ln w="22860">
            <a:solidFill>
              <a:srgbClr val="E88D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798064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2D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deliberate intervention, the pipeline will continue to produce more assistants without advancing diversity into leadership.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351129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Athletes are more diverse than ever. </a:t>
            </a:r>
            <a:pPr algn="l" indent="0" marL="0">
              <a:buNone/>
            </a:pPr>
            <a:r>
              <a:rPr lang="en-US" sz="1100" dirty="0">
                <a:solidFill>
                  <a:srgbClr val="C2D0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Coaching leadership is not keeping pace.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162035"/>
          </a:solidFill>
          <a:ln w="12700">
            <a:solidFill>
              <a:srgbClr val="1620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8A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NCAA Demographics Database (2011–12 to 2024–25)  •  NCAA.org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321040" y="4828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A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16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16916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55648"/>
            <a:ext cx="347472" cy="1691640"/>
          </a:xfrm>
          <a:prstGeom prst="rect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447288"/>
            <a:ext cx="347472" cy="16916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6583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8D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📊  Data Portfolio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097280"/>
            <a:ext cx="77724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NCAA D-I Coaching Pipeline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Demographic Analysis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30352" y="2450592"/>
            <a:ext cx="3291840" cy="0"/>
          </a:xfrm>
          <a:prstGeom prst="line">
            <a:avLst/>
          </a:prstGeom>
          <a:noFill/>
          <a:ln w="22860">
            <a:solidFill>
              <a:srgbClr val="E88D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5786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👩‍💼  Krystal Beasley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0352" y="2999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A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🌐  krystalbcreative.com  •  ✉️  hey@krystalbcreative.com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4198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AA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Source: </a:t>
            </a:r>
            <a:pPr algn="l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NCAA Demographics Database (2011–12 to 2024–25)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36941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AA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Published: </a:t>
            </a:r>
            <a:pPr algn="l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September 2025  •  NCAA.org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40782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0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17,332 records  •  Division I  •  Women’s Basketball, Softball, Volleyball  •  2012–2025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krystalbcreative.com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NCAA D-I Coaching Pipeline &amp; Demographic Analysis</dc:title>
  <dc:subject>PptxGenJS Presentation</dc:subject>
  <dc:creator>Krystal Beasley</dc:creator>
  <cp:lastModifiedBy>Krystal Beasley</cp:lastModifiedBy>
  <cp:revision>1</cp:revision>
  <dcterms:created xsi:type="dcterms:W3CDTF">2026-03-16T21:25:02Z</dcterms:created>
  <dcterms:modified xsi:type="dcterms:W3CDTF">2026-03-16T21:25:02Z</dcterms:modified>
</cp:coreProperties>
</file>